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b18f57639843a9" /><Relationship Type="http://schemas.openxmlformats.org/officeDocument/2006/relationships/extended-properties" Target="/docProps/app.xml" Id="R93053f135c63444f" /><Relationship Type="http://schemas.openxmlformats.org/officeDocument/2006/relationships/officeDocument" Target="/ppt/presentation.xml" Id="R61f20f3e811848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db408948584775"/>
  </p:sldMasterIdLst>
  <p:notesMasterIdLst>
    <p:notesMasterId xmlns:r="http://schemas.openxmlformats.org/officeDocument/2006/relationships" r:id="R337188f4f5d1434f"/>
  </p:notesMasterIdLst>
  <p:sldIdLst>
    <p:sldId xmlns:r="http://schemas.openxmlformats.org/officeDocument/2006/relationships" id="256" r:id="Rcc2d700721cf47e2"/>
    <p:sldId xmlns:r="http://schemas.openxmlformats.org/officeDocument/2006/relationships" id="257" r:id="R5cc75ae552c949c0"/>
    <p:sldId xmlns:r="http://schemas.openxmlformats.org/officeDocument/2006/relationships" id="258" r:id="R9819db40d28d4f27"/>
    <p:sldId xmlns:r="http://schemas.openxmlformats.org/officeDocument/2006/relationships" id="259" r:id="R33abe18f4a1c44d0"/>
    <p:sldId xmlns:r="http://schemas.openxmlformats.org/officeDocument/2006/relationships" id="260" r:id="Rdcb9fe122cf847b3"/>
    <p:sldId xmlns:r="http://schemas.openxmlformats.org/officeDocument/2006/relationships" id="261" r:id="R457475cc84a246d0"/>
    <p:sldId xmlns:r="http://schemas.openxmlformats.org/officeDocument/2006/relationships" id="262" r:id="R91bcbf0ecbec4760"/>
    <p:sldId xmlns:r="http://schemas.openxmlformats.org/officeDocument/2006/relationships" id="263" r:id="R055eb1b832b0459b"/>
    <p:sldId xmlns:r="http://schemas.openxmlformats.org/officeDocument/2006/relationships" id="264" r:id="R4d48369c41414cd8"/>
    <p:sldId xmlns:r="http://schemas.openxmlformats.org/officeDocument/2006/relationships" id="265" r:id="R5505b0e4e9dd41e0"/>
    <p:sldId xmlns:r="http://schemas.openxmlformats.org/officeDocument/2006/relationships" id="266" r:id="R7b218cacdc584243"/>
    <p:sldId xmlns:r="http://schemas.openxmlformats.org/officeDocument/2006/relationships" id="267" r:id="R7ad7125c396449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2e210661524f4d" /><Relationship Type="http://schemas.openxmlformats.org/officeDocument/2006/relationships/slideMaster" Target="/ppt/slideMasters/slideMaster1.xml" Id="R40db408948584775" /><Relationship Type="http://schemas.openxmlformats.org/officeDocument/2006/relationships/notesMaster" Target="/ppt/notesMasters/notesMaster1.xml" Id="R337188f4f5d1434f" /><Relationship Type="http://schemas.openxmlformats.org/officeDocument/2006/relationships/presProps" Target="/ppt/presProps.xml" Id="R0289e412b6574b49" /><Relationship Type="http://schemas.openxmlformats.org/officeDocument/2006/relationships/tableStyles" Target="/ppt/tableStyles.xml" Id="R0cfa8ec90a014d33" /><Relationship Type="http://schemas.openxmlformats.org/officeDocument/2006/relationships/slide" Target="/ppt/slides/slide1.xml" Id="Rcc2d700721cf47e2" /><Relationship Type="http://schemas.openxmlformats.org/officeDocument/2006/relationships/slide" Target="/ppt/slides/slide2.xml" Id="R5cc75ae552c949c0" /><Relationship Type="http://schemas.openxmlformats.org/officeDocument/2006/relationships/slide" Target="/ppt/slides/slide3.xml" Id="R9819db40d28d4f27" /><Relationship Type="http://schemas.openxmlformats.org/officeDocument/2006/relationships/slide" Target="/ppt/slides/slide4.xml" Id="R33abe18f4a1c44d0" /><Relationship Type="http://schemas.openxmlformats.org/officeDocument/2006/relationships/slide" Target="/ppt/slides/slide5.xml" Id="Rdcb9fe122cf847b3" /><Relationship Type="http://schemas.openxmlformats.org/officeDocument/2006/relationships/slide" Target="/ppt/slides/slide6.xml" Id="R457475cc84a246d0" /><Relationship Type="http://schemas.openxmlformats.org/officeDocument/2006/relationships/slide" Target="/ppt/slides/slide7.xml" Id="R91bcbf0ecbec4760" /><Relationship Type="http://schemas.openxmlformats.org/officeDocument/2006/relationships/slide" Target="/ppt/slides/slide8.xml" Id="R055eb1b832b0459b" /><Relationship Type="http://schemas.openxmlformats.org/officeDocument/2006/relationships/slide" Target="/ppt/slides/slide9.xml" Id="R4d48369c41414cd8" /><Relationship Type="http://schemas.openxmlformats.org/officeDocument/2006/relationships/slide" Target="/ppt/slides/slide10.xml" Id="R5505b0e4e9dd41e0" /><Relationship Type="http://schemas.openxmlformats.org/officeDocument/2006/relationships/slide" Target="/ppt/slides/slide11.xml" Id="R7b218cacdc584243" /><Relationship Type="http://schemas.openxmlformats.org/officeDocument/2006/relationships/slide" Target="/ppt/slides/slide12.xml" Id="R7ad7125c396449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cf5de000a141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luxoCaixa Cyberpunk">
      <a:dk1>
        <a:srgbClr val="000000"/>
      </a:dk1>
      <a:lt1>
        <a:srgbClr val="FFFFFF"/>
      </a:lt1>
      <a:dk2>
        <a:srgbClr val="071017"/>
      </a:dk2>
      <a:lt2>
        <a:srgbClr val="F1F6F7"/>
      </a:lt2>
      <a:accent1>
        <a:srgbClr val="B8FF2C"/>
      </a:accent1>
      <a:accent2>
        <a:srgbClr val="21D7FF"/>
      </a:accent2>
      <a:accent3>
        <a:srgbClr val="FF6B35"/>
      </a:accent3>
      <a:accent4>
        <a:srgbClr val="FF3E62"/>
      </a:accent4>
      <a:accent5>
        <a:srgbClr val="4EA5FF"/>
      </a:accent5>
      <a:accent6>
        <a:srgbClr val="7EE787"/>
      </a:accent6>
      <a:hlink>
        <a:srgbClr val="21D7FF"/>
      </a:hlink>
      <a:folHlink>
        <a:srgbClr val="B8FF2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luxoCaixa Cyberpun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b9bd8fe5174e30" /><Relationship Type="http://schemas.openxmlformats.org/officeDocument/2006/relationships/notesMaster" Target="/ppt/notesMasters/notesMaster1.xml" Id="Rff220f2b0d9d41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ee186923594110" /><Relationship Type="http://schemas.openxmlformats.org/officeDocument/2006/relationships/notesMaster" Target="/ppt/notesMasters/notesMaster1.xml" Id="Refb5de958b0646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506cfadac1437f" /><Relationship Type="http://schemas.openxmlformats.org/officeDocument/2006/relationships/notesMaster" Target="/ppt/notesMasters/notesMaster1.xml" Id="Rc02b18eda17046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d8f361737b4c5c" /><Relationship Type="http://schemas.openxmlformats.org/officeDocument/2006/relationships/notesMaster" Target="/ppt/notesMasters/notesMaster1.xml" Id="R9a072ddaf74e42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db41737ebb4c38" /><Relationship Type="http://schemas.openxmlformats.org/officeDocument/2006/relationships/notesMaster" Target="/ppt/notesMasters/notesMaster1.xml" Id="Rcc436a79712448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0b6ec7a3254f3b" /><Relationship Type="http://schemas.openxmlformats.org/officeDocument/2006/relationships/notesMaster" Target="/ppt/notesMasters/notesMaster1.xml" Id="Raf289649326f4c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6e22f11f774def" /><Relationship Type="http://schemas.openxmlformats.org/officeDocument/2006/relationships/notesMaster" Target="/ppt/notesMasters/notesMaster1.xml" Id="R4669b8c10b7d43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2e19bc4bd447ad" /><Relationship Type="http://schemas.openxmlformats.org/officeDocument/2006/relationships/notesMaster" Target="/ppt/notesMasters/notesMaster1.xml" Id="Ra080a120855a42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8d1f761ed043c3" /><Relationship Type="http://schemas.openxmlformats.org/officeDocument/2006/relationships/notesMaster" Target="/ppt/notesMasters/notesMaster1.xml" Id="R3576898111874d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2af10905634522" /><Relationship Type="http://schemas.openxmlformats.org/officeDocument/2006/relationships/notesMaster" Target="/ppt/notesMasters/notesMaster1.xml" Id="R54f15fe394784b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70a2cad13d4eba" /><Relationship Type="http://schemas.openxmlformats.org/officeDocument/2006/relationships/notesMaster" Target="/ppt/notesMasters/notesMaster1.xml" Id="R31c98429f5e94b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afd63ef45e4ce6" /><Relationship Type="http://schemas.openxmlformats.org/officeDocument/2006/relationships/notesMaster" Target="/ppt/notesMasters/notesMaster1.xml" Id="R246c4ade00a549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desafio não é apenas cadastrar débitos e créditos.</a:t>
            </a:r>
          </a:p>
          <a:p xmlns:a="http://schemas.openxmlformats.org/drawingml/2006/main">
            <a:r>
              <a:t>Pergunta central: a escrita continua disponível quando o consolidado ou o broker falha?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Comece pelos requisitos, não pelo RabbitMQ.</a:t>
            </a:r>
          </a:p>
          <a:p xmlns:a="http://schemas.openxmlformats.org/drawingml/2006/main">
            <a:r>
              <a:t>A separação em dois serviços existe para criar limites independentes de falha e escala.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serviço possui seu próprio banco.</a:t>
            </a:r>
          </a:p>
          <a:p xmlns:a="http://schemas.openxmlformats.org/drawingml/2006/main">
            <a:r>
              <a:t>Não há chamada síncrona nem acesso cruzado às tabelas.</a:t>
            </a:r>
          </a:p>
          <a:p xmlns:a="http://schemas.openxmlformats.org/drawingml/2006/main">
            <a:r>
              <a:t>A consistência entre os serviços é eventual.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Outbox elimina a janela entre salvar o lançamento e publicar o evento.</a:t>
            </a:r>
          </a:p>
          <a:p xmlns:a="http://schemas.openxmlformats.org/drawingml/2006/main">
            <a:r>
              <a:t>A entrega continua sendo pelo menos uma vez.</a:t>
            </a:r>
          </a:p>
          <a:p xmlns:a="http://schemas.openxmlformats.org/drawingml/2006/main">
            <a:r>
              <a:t>Inbox idempotente protege o resultado contra redelivery.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os esquemas, autenticação Bearer e códigos HTTP.</a:t>
            </a:r>
          </a:p>
          <a:p xmlns:a="http://schemas.openxmlformats.org/drawingml/2006/main">
            <a:r>
              <a:t>Se houver tempo, volte à apresentação interativa e execute o API Lab.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preferencialmente Test-Resilience.ps1.</a:t>
            </a:r>
          </a:p>
          <a:p xmlns:a="http://schemas.openxmlformats.org/drawingml/2006/main">
            <a:r>
              <a:t>Explique cada etapa: parar consolidado, lançar, restaurar e aguardar convergência.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tente explicar todos os diagramas.</a:t>
            </a:r>
          </a:p>
          <a:p xmlns:a="http://schemas.openxmlformats.org/drawingml/2006/main">
            <a:r>
              <a:t>Mostre como cada nível responde a uma pergunta diferente e aprofunde somente se pedirem.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Execute o fluxo completo na apresentação HTML.</a:t>
            </a:r>
          </a:p>
          <a:p xmlns:a="http://schemas.openxmlformats.org/drawingml/2006/main">
            <a:r>
              <a:t>A resposta 201 acontece antes da projeção; o polling torna a consistência eventual visível.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o que está implementado localmente do que pertence à arquitetura-alvo.</a:t>
            </a:r>
          </a:p>
          <a:p xmlns:a="http://schemas.openxmlformats.org/drawingml/2006/main">
            <a:r>
              <a:t>Não adicionar cloud mantém a prova reproduzível e não reduz a qualidade da decisão documentada.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taxa programada é 50 req/s; a vazão observada inclui a pequena sobrecarga de agendamento.</a:t>
            </a:r>
          </a:p>
          <a:p xmlns:a="http://schemas.openxmlformats.org/drawingml/2006/main">
            <a:r>
              <a:t>500/500 e 0% de perda são o resultado central.</a:t>
            </a:r>
          </a:p>
          <a:p xmlns:a="http://schemas.openxmlformats.org/drawingml/2006/main">
            <a:r>
              <a:t>Não apresente o ensaio local como certificação de produção.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C4 é somente conceitual; reproduzir uma topologia distribuída completa consumiria tempo desproporcional para a prova.</a:t>
            </a:r>
          </a:p>
          <a:p xmlns:a="http://schemas.openxmlformats.org/drawingml/2006/main">
            <a:r>
              <a:t>A base é o projeto real: APIs stateless com JWT e readiness, bancos isolados, Outbox/Inbox, RabbitMQ e Redis.</a:t>
            </a:r>
          </a:p>
          <a:p xmlns:a="http://schemas.openxmlformats.org/drawingml/2006/main">
            <a:r>
              <a:t>O gateway balancearia apenas para réplicas prontas.</a:t>
            </a:r>
          </a:p>
          <a:p xmlns:a="http://schemas.openxmlformats.org/drawingml/2006/main">
            <a:r>
              <a:t>Antes de escalar Lançamentos, adicionar claim/lease ao publisher da Outbox ou extrair um worker dedicado.</a:t>
            </a:r>
          </a:p>
          <a:p xmlns:a="http://schemas.openxmlformats.org/drawingml/2006/main">
            <a:r>
              <a:t>No Consolidado, as réplicas atendem leitura; Single Active Consumer mantém um consumidor ativo e outro em standby por fila.</a:t>
            </a:r>
          </a:p>
          <a:p xmlns:a="http://schemas.openxmlformats.org/drawingml/2006/main">
            <a:r>
              <a:t>No HTML, o botão Simular comportamento abre os estados normal, pico e failover. É uma demonstração visual: não chama APIs nem provisiona infraestrutura.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Retome a pergunta inicial.</a:t>
            </a:r>
          </a:p>
          <a:p xmlns:a="http://schemas.openxmlformats.org/drawingml/2006/main">
            <a:r>
              <a:t>O serviço de lançamentos continua aceitando trabalho durante a queda do consolidado e do broker.</a:t>
            </a:r>
          </a:p>
          <a:p xmlns:a="http://schemas.openxmlformats.org/drawingml/2006/main">
            <a:r>
              <a:t>Feche convidando perguntas sobre trade-offs e evolução.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ea3cbbbb546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3aa3554f9544d0" /><Relationship Type="http://schemas.openxmlformats.org/officeDocument/2006/relationships/slideLayout" Target="/ppt/slideLayouts/slideLayout1.xml" Id="R3b4eb228dfc247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4eb228dfc247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luxoCaixa Cyberpunk">
      <a:dk1>
        <a:srgbClr val="000000"/>
      </a:dk1>
      <a:lt1>
        <a:srgbClr val="FFFFFF"/>
      </a:lt1>
      <a:dk2>
        <a:srgbClr val="071017"/>
      </a:dk2>
      <a:lt2>
        <a:srgbClr val="F1F6F7"/>
      </a:lt2>
      <a:accent1>
        <a:srgbClr val="B8FF2C"/>
      </a:accent1>
      <a:accent2>
        <a:srgbClr val="21D7FF"/>
      </a:accent2>
      <a:accent3>
        <a:srgbClr val="FF6B35"/>
      </a:accent3>
      <a:accent4>
        <a:srgbClr val="FF3E62"/>
      </a:accent4>
      <a:accent5>
        <a:srgbClr val="4EA5FF"/>
      </a:accent5>
      <a:accent6>
        <a:srgbClr val="7EE787"/>
      </a:accent6>
      <a:hlink>
        <a:srgbClr val="21D7FF"/>
      </a:hlink>
      <a:folHlink>
        <a:srgbClr val="B8FF2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luxoCaixa Cyberpun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19f7b69124b9d" /><Relationship Type="http://schemas.openxmlformats.org/officeDocument/2006/relationships/notesSlide" Target="/ppt/notesSlides/notesSlide1.xml" Id="R4f6677d2000a44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f650d42304e6a" /><Relationship Type="http://schemas.openxmlformats.org/officeDocument/2006/relationships/notesSlide" Target="/ppt/notesSlides/notesSlide2.xml" Id="R66fa7de7ad1a41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99d9b01f54cb8" /><Relationship Type="http://schemas.openxmlformats.org/officeDocument/2006/relationships/image" Target="/ppt/media/image.png" Id="R38a30e743e9d4990" /><Relationship Type="http://schemas.openxmlformats.org/officeDocument/2006/relationships/notesSlide" Target="/ppt/notesSlides/notesSlide3.xml" Id="R7d15dd3014bc48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2a218bf084ea5" /><Relationship Type="http://schemas.openxmlformats.org/officeDocument/2006/relationships/image" Target="/ppt/media/image2.png" Id="Rb39255e368a84a12" /><Relationship Type="http://schemas.openxmlformats.org/officeDocument/2006/relationships/notesSlide" Target="/ppt/notesSlides/notesSlide4.xml" Id="R6c418b9ab2cd40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ff0882ddd4512" /><Relationship Type="http://schemas.openxmlformats.org/officeDocument/2006/relationships/notesSlide" Target="/ppt/notesSlides/notesSlide5.xml" Id="Read88030693840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56cf62254492f" /><Relationship Type="http://schemas.openxmlformats.org/officeDocument/2006/relationships/notesSlide" Target="/ppt/notesSlides/notesSlide6.xml" Id="R41f3baade3e9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e9e4bea464e26" /><Relationship Type="http://schemas.openxmlformats.org/officeDocument/2006/relationships/image" Target="/ppt/media/image3.png" Id="R364dc85fce0c4647" /><Relationship Type="http://schemas.openxmlformats.org/officeDocument/2006/relationships/image" Target="/ppt/media/image4.png" Id="R7ebd22834d984774" /><Relationship Type="http://schemas.openxmlformats.org/officeDocument/2006/relationships/image" Target="/ppt/media/image5.png" Id="R74af806e08b04063" /><Relationship Type="http://schemas.openxmlformats.org/officeDocument/2006/relationships/image" Target="/ppt/media/image6.png" Id="R2e1b84b2db4c4267" /><Relationship Type="http://schemas.openxmlformats.org/officeDocument/2006/relationships/notesSlide" Target="/ppt/notesSlides/notesSlide7.xml" Id="Rcc8d6fea997744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fec32a17a4d31" /><Relationship Type="http://schemas.openxmlformats.org/officeDocument/2006/relationships/notesSlide" Target="/ppt/notesSlides/notesSlide8.xml" Id="R9436bfcea39f40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50d9b60034bc2" /><Relationship Type="http://schemas.openxmlformats.org/officeDocument/2006/relationships/notesSlide" Target="/ppt/notesSlides/notesSlide9.xml" Id="Rabe2674d5a1941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1f0de4c1a4e4a" /><Relationship Type="http://schemas.openxmlformats.org/officeDocument/2006/relationships/notesSlide" Target="/ppt/notesSlides/notesSlide10.xml" Id="R8775c98cfb2246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40d95cc924b2e" /><Relationship Type="http://schemas.openxmlformats.org/officeDocument/2006/relationships/image" Target="/ppt/media/image7.png" Id="R268ba1ceab694f17" /><Relationship Type="http://schemas.openxmlformats.org/officeDocument/2006/relationships/notesSlide" Target="/ppt/notesSlides/notesSlide11.xml" Id="R9fa8924eafe644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348590f12413b" /><Relationship Type="http://schemas.openxmlformats.org/officeDocument/2006/relationships/notesSlide" Target="/ppt/notesSlides/notesSlide12.xml" Id="R2d5e8dafa8e044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3091C-532F-43CF-84B9-7831D164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4ADDC-6489-4222-9110-3C51D0C8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FAF39-3586-41E6-89F8-B22ACB73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AF092-3E04-422F-A582-2F9BB8AD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BF992-9114-4933-98C4-0DD3F012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944B2-21B8-4BAD-BFD3-2EB5C2C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00  //  ABERTURA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E2027-022F-4A0E-AE83-D951FAEE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2F5C7-8ECB-4B61-8689-C3489A19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90EFA-BACB-429F-BFF7-76004B46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4B894-2CE8-4E71-88AE-EC265239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BANCO CARREFOUR // DESAFIO TÉCNICO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2D307-85D7-4AAD-9AE4-4589EC6A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7239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42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Uma arquitetura que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2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42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continua respirando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2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42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quando tudo falha.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472E7-2D26-40EC-A609-C8BB7F68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50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Fluxo de caixa em .NET 8, desenhado para desacoplar escrita, consolidação e recuperação.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A94FD-C07D-487D-A3EC-7427F27E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00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600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9C20C-AA75-4F1C-9697-673E91D0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1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PERDA NOS CENÁRIOS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676AF-95E3-4B73-A648-C91F27E0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714625" cy="1952625"/>
          </a:xfrm>
          <a:prstGeom xmlns:a="http://schemas.openxmlformats.org/drawingml/2006/main" prst="roundRect">
            <a:avLst>
              <a:gd name="adj" fmla="val 4878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1D7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44806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4D2BC-814E-4E31-AB70-AF8A5804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39871-7468-4548-85A2-0769351B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18922-6463-455E-B980-83863568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0382E-C426-41E1-B41E-795F5F6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72430-F4DB-4E95-B75F-5FFB22BC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7FC65-3883-460A-9202-7AEB5C0D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01  //  O DESAFIO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9713B-8841-48F7-8FD6-FA5ECCA9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B48A8-F623-4B8A-8938-20F4AAAA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85E6D-3914-4B89-B1F6-E1B0A7A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51A54-C276-40CA-B813-8218A62E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O RISCO NÃO É CADASTRAR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4FA40-2172-4777-921F-C65B3958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12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412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É continuar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12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412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operando.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AB2AF-DFF8-4B8A-A4B9-D6540C3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425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Dois requisitos mudam o desenho: lançamentos independentes do consolidado e leitura a 50 req/s com perda máxima de 5%.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455B5-3FCB-46FD-A6F2-A0F1C84B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762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C9874-D664-4A45-9E33-225B461C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6340B-8109-4C5D-905D-ADDE089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52575"/>
            <a:ext cx="4362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21D7FF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21D7FF"/>
                </a:solidFill>
                <a:latin typeface="Bahnschrift"/>
                <a:ea typeface="Bahnschrift"/>
                <a:cs typeface="Bahnschrift"/>
              </a:rPr>
              <a:t>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6C01F-BF3F-4BAE-9DCC-62E44B9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436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REQUISIÇÕES POR SEGUNDO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49592-F89C-467C-BCB4-0D42E6A3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BAF32-E5B6-450E-9BE0-7A0AB403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ED5183-C2D5-485D-8F1A-A27260D9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1885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C498D-2811-4624-AF59-B2E8A17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814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PERDA MEDIDA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395CB-196C-4C61-9F6B-6228B3A9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286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3EDC5-449C-47CB-A32D-9C2C8480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BDE0D-0C40-480D-85F5-6BAED44C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24200"/>
            <a:ext cx="1885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FF6B35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FF6B35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2606C-B19C-41C1-A978-1FE21C17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81425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SERVIÇOS INDEPENDENTES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7DABD-95EF-4166-81CF-55BCC120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A arquitetura começa no requisito não funcional, não na tecnologia.</a:t>
            </a:r>
          </a:p>
        </p:txBody>
      </p:sp>
    </p:spTree>
    <p:extLst>
      <p:ext uri="{BB962C8B-B14F-4D97-AF65-F5344CB8AC3E}">
        <p14:creationId xmlns:p14="http://schemas.microsoft.com/office/powerpoint/2010/main" val="10989371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4A242-EE93-4733-BDE2-5C7E91E7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2134F-7100-4C1F-9093-AAB23DDA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69929-D5AE-4570-8562-6B7EF054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49950-F707-47D9-AE91-61DEE219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9B58B-9848-4B1F-ADAA-369DDF05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D9F33-85C7-4036-91CA-2C1388F2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02  //  DECOMPOSIÇÃO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37300-D643-4E3F-B2A0-5C8FA89A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57375-055D-40FA-A57C-8DF8A5D6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5FC9A-66AA-46B2-B360-E921CD33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8C699-4041-4F8A-9B9A-AEE52D88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DOIS RITMOS, DOIS LIMITES DE FALHA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2D512-8D47-43DA-918C-E6F06488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3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A escrita não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3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3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espera a leitura.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7E5C5-760E-4FF0-8828-FC8C4CDE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CC71B-6EF2-42DE-83F3-9C984E45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Lançamentos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6B1D0-18D8-44F9-B4F7-0B0B6FCA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670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CRUD + PostgreSQL + Outbox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32E6B-9052-438C-83C1-909686A4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2AD3B-6A24-41E3-9787-F2FDE5DF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Mensageria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C5514-863B-4FD1-8558-C07B0C4A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385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RabbitMQ durável + confirmações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11FE3-9640-4434-9EAE-2FAC710D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AFCE7-7C49-473E-A02F-38C8DA1E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Consolidado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84DAF-9D79-43DE-A9A3-995AC539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100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Inbox + PostgreSQL + Redis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A8407-E60E-468B-8601-FD4BE5EC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066800"/>
            <a:ext cx="6057900" cy="5105400"/>
          </a:xfrm>
          <a:prstGeom xmlns:a="http://schemas.openxmlformats.org/drawingml/2006/main" prst="roundRect">
            <a:avLst>
              <a:gd name="adj" fmla="val 1119"/>
            </a:avLst>
          </a:prstGeom>
          <a:solidFill xmlns:a="http://schemas.openxmlformats.org/drawingml/2006/main">
            <a:srgbClr val="F1F6F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30e743e9d4990"/>
          <a:stretch xmlns:a="http://schemas.openxmlformats.org/drawingml/2006/main"/>
        </p:blipFill>
        <p:spPr>
          <a:xfrm xmlns:a="http://schemas.openxmlformats.org/drawingml/2006/main">
            <a:off x="6756977" y="1143000"/>
            <a:ext cx="3059545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742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D1592-E434-46C0-84D6-50A26B51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E76A3-BC99-4D63-A52D-4BCD4C80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1D237-8E53-437C-A2DF-E6635ED1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2AC81-4945-4C5E-9A26-D5CFA562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24CDA-461D-4F4D-9979-263FA849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CF9FF-4CC6-46FE-893A-D9F0733F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03  //  RESILIÊNCIA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DC947-BE24-4F5F-AF9E-7A8DF8AD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B7935-58C3-4818-9D45-069F9F9D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8C42E-F828-401B-8963-ADB66570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F5A74-F2DC-49C0-8A84-DD8BCA75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5962650" cy="4914900"/>
          </a:xfrm>
          <a:prstGeom xmlns:a="http://schemas.openxmlformats.org/drawingml/2006/main" prst="roundRect">
            <a:avLst>
              <a:gd name="adj" fmla="val 1163"/>
            </a:avLst>
          </a:prstGeom>
          <a:solidFill xmlns:a="http://schemas.openxmlformats.org/drawingml/2006/main">
            <a:srgbClr val="F1F6F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255e368a84a12"/>
          <a:stretch xmlns:a="http://schemas.openxmlformats.org/drawingml/2006/main"/>
        </p:blipFill>
        <p:spPr>
          <a:xfrm xmlns:a="http://schemas.openxmlformats.org/drawingml/2006/main">
            <a:off x="685800" y="1376046"/>
            <a:ext cx="5810250" cy="444880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6561F-365C-4B9E-9E22-38A31CC4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TRANSACTIONAL OUTBOX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0F902-006E-48A9-A9AC-AA992AD5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4191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22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Confirmar primeiro.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22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22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Publicar depois.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C3E06-D636-436B-9811-835742D4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3104C-355C-4ADE-87F7-FDAAA51B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099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81232-4E7C-463E-B8BD-C5FE27DE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4099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lançamento + evento no mesmo commit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57FFE-1FA3-491F-B422-03E5ACC5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052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48E2E-6678-4A80-A0C8-CD10AC72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290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606B8-1A12-454C-A3D4-7A873101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290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publicação com publisher confirm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11A03-8A45-4FA6-8E2C-58768C07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2437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A9847-F097-47EE-9E98-77B596EC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482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63011-931A-4924-9429-BF45D0F2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6482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Inbox impede dupla contabilização</a:t>
            </a:r>
          </a:p>
        </p:txBody>
      </p:sp>
    </p:spTree>
    <p:extLst>
      <p:ext uri="{BB962C8B-B14F-4D97-AF65-F5344CB8AC3E}">
        <p14:creationId xmlns:p14="http://schemas.microsoft.com/office/powerpoint/2010/main" val="935837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4CF4C5-0CDD-437E-8A75-3D673FD9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5B892-76A9-4B0B-8139-137C8030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AAA63-9AE7-4799-A4EF-95C0C0E3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FC445-6075-4806-AD62-EB54C9F0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7CBEC-29E7-4C7A-A5DD-9773E66F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3B28F-2177-44ED-B17C-8616546E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04  //  SWAGGER AO VIVO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C491C-FBC8-4396-B2A9-6C671039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B8125-CDED-4E1A-B5E1-F87F8D99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F8482-F030-41B5-9728-728B2E9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68CDF-40B2-41E4-A3A2-91DFCA74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ESTAÇÃO 01 // CONTRATO EXECUTÁVEL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F591C-B382-4532-B529-C8A10860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O contrato pode ser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3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explorado agora.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B01AA-7FA2-4C27-87E4-AFD27D82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OpenAPI local nas duas APIs. O Swagger facilita exploração; os scripts produzem a evidência reproduzível.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B5456-74F5-4133-AA9C-493421BB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6196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E5F19-37C3-4B5E-9191-751C1B75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rPr>
              <a:t>LANÇAMENTOS  •  localhost:5101/swagger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82A35-AE5D-4DBE-9711-5E6EAB3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4619625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ED7E1-82F2-49FF-BA2C-8951CDDC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rPr>
              <a:t>CONSOLIDADO  •  localhost:5102/swagger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D3E05-3330-455F-8868-38A93806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48387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6475B-4896-4B11-9878-CFEBDF9D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C8469-977C-45FE-975E-C86FC2C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rPr>
              <a:t>POST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F6A90-ABB7-4584-94A5-38ED5B20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43050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/api/lancamentos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C5F1A-ED43-4853-B808-DD8CBD60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43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201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1F556-6F80-45B4-9E37-9C4B78CC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8387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DDE61-E7C7-4872-8EA7-F87F4114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62175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658F2-3D14-4145-90F6-8DCBCC19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621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rPr>
              <a:t>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C293FE-61E1-43E9-A971-244F6347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0027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/api/lancamentos?data=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D7E52B-E6CB-4929-9ADB-3AE8D1B8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00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200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FF6185-C454-4900-A871-96E636E8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95575"/>
            <a:ext cx="48387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E7D39-35D7-46CC-934F-28E06740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E2A46-EB7D-4DAF-A7BE-1F903FF8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rPr>
              <a:t>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FDFDD7-8B61-416E-BF20-8C0F7E34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57500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/api/lancamentos/{id}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B88E78-F70C-4527-A30D-47DDE414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204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6F46D1-CCA6-4DD0-A1D6-C2B09D36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48387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2DA31C-BDE3-4254-A440-CE797585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76625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2167E2-6390-48CC-881C-42DC4009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766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rPr>
              <a:t>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8DAE06-313B-45D6-8177-F06E91E4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514725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/api/lancamentos/{id}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03BD2D-D33C-4478-B345-057B7433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147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204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33745A-D613-4AA9-B172-D8A0153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48387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6195F0-2B34-4957-BF83-31E47A7E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B9C0EA-FA11-458F-A62A-8DC35EB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33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rPr>
              <a:t>GET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F6745D-DCB7-4AE8-842F-2BF8A6C7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71950"/>
            <a:ext cx="319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/api/consolidado?data=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96C25A-15CE-4270-9790-1B15C389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71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200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CDF6AB-C1BB-41C9-8C5B-FF3A9154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83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0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Bearer JWT  •  role: comerciante</a:t>
            </a:r>
          </a:p>
        </p:txBody>
      </p:sp>
    </p:spTree>
    <p:extLst>
      <p:ext uri="{BB962C8B-B14F-4D97-AF65-F5344CB8AC3E}">
        <p14:creationId xmlns:p14="http://schemas.microsoft.com/office/powerpoint/2010/main" val="7388505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8C0E0A-4ADD-4832-96BB-E8DBD0B1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2053B-BFE0-4F24-8AB7-DD975F38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C482C-5B2D-4BBD-9B3A-067AE55C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F23BF-1E67-473B-9ACC-D1A42D69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7C41E-7253-4523-97A9-FDC9AACE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45873-C30A-46F2-B9DC-8FCA306D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05  //  SCRIPTS AO VIVO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B3C7A-46EC-4F4E-8252-800FC03D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CB3CE-6458-4174-9268-700055EB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4E86D-D1C3-4D75-B8D1-FF4EC588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103CC-8025-4C6D-BD62-8B98E16E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ESTAÇÃO 02 // POWERSHELL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91217-785B-4C15-A4CF-F7A543B3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Promessas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viram testes.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B62D8B-8D92-4036-93A5-83AC7F4A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80BD2-FB6D-4C9F-9A47-425AD911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SMOKE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F0D0C-403B-47D8-9223-3A34610E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718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CRUD, JWT e consistência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CF617-C880-48BA-B188-1FBC7D7C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85B217-9F70-4A77-AE27-073BF36B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RESILIÊNCIA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38192-60B1-4481-9303-501EDC89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76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consolidado offline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9C68B-66C3-4F74-B806-3FAA583B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A246F-596E-401B-A8BD-8EAE536A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OUTBOX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47C38-A618-4E43-97DC-44644344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18147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RabbitMQ offline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F1D91-D476-4891-A07A-A31BBDB3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86110-A5DA-448B-A213-87BD3F2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CARGA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E5DAB6-E66B-4878-9DF3-01B4623E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863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50 req/s por 10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28675A-AB1D-4D32-866C-490A73C2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EE9FAD-B590-4906-A23A-0EB50714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SUPPLY CHAIN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CDD7F-22C9-4046-B048-CEAE7BCC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11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auditoria NuGet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664BF5-167D-4D0C-BCDD-EC71F7CD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238250"/>
            <a:ext cx="6143625" cy="4572000"/>
          </a:xfrm>
          <a:prstGeom xmlns:a="http://schemas.openxmlformats.org/drawingml/2006/main" prst="roundRect">
            <a:avLst>
              <a:gd name="adj" fmla="val 1042"/>
            </a:avLst>
          </a:prstGeom>
          <a:solidFill xmlns:a="http://schemas.openxmlformats.org/drawingml/2006/main">
            <a:srgbClr val="07101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849191-5699-4852-90FF-2809A777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28750"/>
            <a:ext cx="5743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fluxocaixa://tests                                      APROVADO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1054D3-1FA6-4E8B-9C69-F924E4E4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5260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8B2BEA-2D15-4133-98FA-11D61D0A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71675"/>
            <a:ext cx="56673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PS C:\ProvaBC_Carrefour&gt; .\scripts\Test-Resilience.ps1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Status                 : APROVADO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LancamentoDuranteQueda : 001024f8-4afc-4711-a705-4a1a918ff21b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SaldoAposRecuperacao   : 777,77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PerdaDeEventos         : 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Container api-consolidado Stopped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POST /api/lancamentos  201 Created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Container api-consolidado Started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Evento processado      ACK</a:t>
            </a:r>
          </a:p>
        </p:txBody>
      </p:sp>
    </p:spTree>
    <p:extLst>
      <p:ext uri="{BB962C8B-B14F-4D97-AF65-F5344CB8AC3E}">
        <p14:creationId xmlns:p14="http://schemas.microsoft.com/office/powerpoint/2010/main" val="8866304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98767-5645-4AFC-A2B3-16D2BD05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3DA78-7E62-4A45-BF1E-91224BFF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5E9C6-1C52-429E-9D49-A35E9475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E787A-121C-4CD2-8123-AA81E5CA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F13B9-EBFB-409B-A4AC-0911037C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C448D-63FC-481B-8089-4E023DE4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06  //  C4 NAVEGÁVEL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2FC82-A244-455A-B55D-D6190434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4ABE5-F367-408F-A0C4-5F1C4D06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1EBCAB-6C89-483C-BFB7-EDC96CAF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242B9-A91F-47C6-AF63-E85BF290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ESTAÇÃO 03 // DOCUMENTAÇÃO VIVA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EE738-E7DD-4FB0-9699-6DB0EDB5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Uma decisão em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4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cada nível.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6AEFF-3D6B-406F-9850-AA96B1EC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762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275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Contexto responde quem usa. Containers distribuem responsabilidades. Componentes mostram padrões. Deployment explicita a evolução de produção.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6C830-D288-4D3A-886A-CAB5FBA3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114425"/>
            <a:ext cx="3009900" cy="22479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1F6F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dc85fce0c4647"/>
          <a:stretch xmlns:a="http://schemas.openxmlformats.org/drawingml/2006/main"/>
        </p:blipFill>
        <p:spPr>
          <a:xfrm xmlns:a="http://schemas.openxmlformats.org/drawingml/2006/main">
            <a:off x="5527216" y="1190625"/>
            <a:ext cx="1709067" cy="2095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786AF4-2835-4E0A-998A-7A279A7C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14425"/>
            <a:ext cx="3009900" cy="22479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1F6F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d22834d984774"/>
          <a:stretch xmlns:a="http://schemas.openxmlformats.org/drawingml/2006/main"/>
        </p:blipFill>
        <p:spPr>
          <a:xfrm xmlns:a="http://schemas.openxmlformats.org/drawingml/2006/main">
            <a:off x="8117086" y="1190625"/>
            <a:ext cx="2815828" cy="2095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A9A9F-BA71-491B-BD27-04DCAD32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90925"/>
            <a:ext cx="3009900" cy="22479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1F6F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f806e08b04063"/>
          <a:stretch xmlns:a="http://schemas.openxmlformats.org/drawingml/2006/main"/>
        </p:blipFill>
        <p:spPr>
          <a:xfrm xmlns:a="http://schemas.openxmlformats.org/drawingml/2006/main">
            <a:off x="5189957" y="3667125"/>
            <a:ext cx="2383585" cy="2095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CA6E9-C13A-4A34-B1C1-304897C6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90925"/>
            <a:ext cx="3009900" cy="22479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F1F6F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b84b2db4c4267"/>
          <a:stretch xmlns:a="http://schemas.openxmlformats.org/drawingml/2006/main"/>
        </p:blipFill>
        <p:spPr>
          <a:xfrm xmlns:a="http://schemas.openxmlformats.org/drawingml/2006/main">
            <a:off x="8096250" y="4301249"/>
            <a:ext cx="2857500" cy="827252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5F378-3514-4271-A708-713243E9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3762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7 FONTES PLANTUML  •  7 PNGs REPRODUZÍVEIS</a:t>
            </a:r>
          </a:p>
        </p:txBody>
      </p:sp>
    </p:spTree>
    <p:extLst>
      <p:ext uri="{BB962C8B-B14F-4D97-AF65-F5344CB8AC3E}">
        <p14:creationId xmlns:p14="http://schemas.microsoft.com/office/powerpoint/2010/main" val="844761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9711C-2D38-4BE2-898D-7ADB3339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06916-3FE5-4D55-BEEF-C4D607CE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F50FF-0A82-4782-B6E8-361D2034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F8363-B07F-4B6B-877E-3ADB15AD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453C5-C89B-4E30-83E7-DDCEC22C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79D5F-ECCA-486E-922D-5FB75853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07  //  API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A18D0-2109-4EA7-86D2-64DC80D2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E5E92-1F4C-4A7D-A84A-D29028EE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ACF7B-DF4C-425E-A786-FA645526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BCB6D-A4BE-4744-B808-64DDAF3E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ESTAÇÃO 04 // POSTMAN-LIKE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0232F-A596-4535-9BA1-455DA6AA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Da requisição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6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60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ao saldo.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C5B79-553A-4A52-965A-AD3CB80B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O laboratório gera JWT em memória, cria crédito e débito e aguarda a projeção convergir.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19816-D122-45A6-9E50-84864185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3857625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CB513-C6F3-408B-A0C8-0F6E46A3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rPr>
              <a:t>EXECUTAR FLUXO COMPLETO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9789B-16AA-4656-BAD4-3F72DB4C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238250"/>
            <a:ext cx="6143625" cy="4476750"/>
          </a:xfrm>
          <a:prstGeom xmlns:a="http://schemas.openxmlformats.org/drawingml/2006/main" prst="roundRect">
            <a:avLst>
              <a:gd name="adj" fmla="val 1064"/>
            </a:avLst>
          </a:prstGeom>
          <a:solidFill xmlns:a="http://schemas.openxmlformats.org/drawingml/2006/main">
            <a:srgbClr val="07101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2946B-A8B4-4F74-8C54-9E509590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382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21D7FF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21D7FF"/>
                </a:solidFill>
                <a:latin typeface="Cascadia Code"/>
                <a:ea typeface="Cascadia Code"/>
                <a:cs typeface="Cascadia Code"/>
              </a:rPr>
              <a:t>POST → EVENT → 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BEBB7-1C37-4E8C-927D-6B0816E5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382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200   572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E9CCB-7848-4154-AF5E-E2BF9559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52600"/>
            <a:ext cx="614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04B5CA-7B9D-456B-8AF2-B9A2A7F5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5429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"date": "2167-04-18",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"created": [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  { "tipo": "Credito", "valor": 500.00 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  { "tipo": "Debito", "valor": 125.50 }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],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"consolidated": {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  "totalCreditos": 500.00,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  "totalDebitos": 125.50,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  "saldoFinal": 374.50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},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  "attempts": 3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0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12302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A618A8-169E-465E-825D-791DC478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6397B-8EC1-48A3-AAA7-A0FF371B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1E1EE-7DA5-46EF-92DA-17108A89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668BD-7B46-4C42-93BC-E069616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DB6D3-A66F-4210-AE0F-72F98BB6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EB50E-3651-4201-A567-3045309E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08  //  SEGURANÇA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ABD72-E56E-454F-90B5-E921135B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1F0EB-6B8F-41DF-B9B7-8C944AD5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FD70F7-191C-4BDF-9E69-A6BA7F52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F7F74-F6DD-4586-8B29-F1C5869A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LOCAL HONESTO. PRODUÇÃO EXPLÍCITA.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9C8F7-CF9E-4442-8B7B-561145F3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Sem credencial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4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mágica escondida.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BB1F3-A74D-4A85-AF0D-7E558F3B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A prova usa JWT HS256 offline com issuer, audience, expiração e role. A arquitetura-alvo troca o emissor local por OIDC e controles de produção.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6492E-633D-4669-B63E-518616E0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66217-AE3E-445F-A28E-4C8FE1B5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E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999B2-D9BB-471F-84CB-CAEDA39D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47825"/>
            <a:ext cx="1838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FF3E62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FF3E62"/>
                </a:solidFill>
                <a:latin typeface="Bahnschrift"/>
                <a:ea typeface="Bahnschrift"/>
                <a:cs typeface="Bahnschrift"/>
              </a:rPr>
              <a:t>401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7FE68-FC2A-4AB1-91F1-7A2E638A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1838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SEM AUTENTICAÇÃO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426AB-BD25-4E50-BA9A-03DDAF88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7637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0A250-FE20-4AAB-AF39-D1BD60A4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7637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CFDA1A-15F6-4B71-B4EE-290586F1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47825"/>
            <a:ext cx="1838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FF6B35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FF6B35"/>
                </a:solidFill>
                <a:latin typeface="Bahnschrift"/>
                <a:ea typeface="Bahnschrift"/>
                <a:cs typeface="Bahnschrift"/>
              </a:rPr>
              <a:t>403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BE993-BF7F-4D42-BE33-EA080179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1838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SEM AUTORIZAÇÃO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33B6D-37E8-4E83-8B75-B4953B5B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7148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69AA4-983A-41B2-879E-BEA81F50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F1AB4-AAE1-4CFF-AA96-087B1240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314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5721F1-6260-452E-B57D-73EED434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71925"/>
            <a:ext cx="431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COMERCIANTE AUTORIZADO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735BE-4D41-45CE-BB7B-815AA3C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201275" cy="6858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B8FF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2D725-799B-4BD4-A689-D0545D88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976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PRODUÇÃO  //  TLS  •  OIDC  •  SECRET MANAGER  •  RATE LIMIT  •  WAF  •  MENOR PRIVILÉGIO</a:t>
            </a:r>
          </a:p>
        </p:txBody>
      </p:sp>
    </p:spTree>
    <p:extLst>
      <p:ext uri="{BB962C8B-B14F-4D97-AF65-F5344CB8AC3E}">
        <p14:creationId xmlns:p14="http://schemas.microsoft.com/office/powerpoint/2010/main" val="7121702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74413-94EB-4B9F-B957-5CB6F151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1A0CF-A5D8-44EF-B321-FFBB5479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27960E-FD8C-49C1-B29B-9464BE43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D6EA1-2881-4646-A938-2AE27155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9AA48-CFE9-4FB2-BAFA-EF33875B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EF97D-35D8-4998-9A16-D12D2D74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09  //  DESEMPENHO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1783A-107C-44F8-AFC2-D9722579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2A131-E3AC-4B4A-A4AA-169940D8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EE23A-1F99-49EF-9FB8-DD338CF0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3A9BA-EB82-417A-943B-CB1E457E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750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49,99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F118C-C5A7-43A4-B223-D221CA6A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REQ/S OBSERVADAS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3D5BE-FE00-42DD-B7AD-80E81117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478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500 REQUISIÇÕES // 500 SUCESSOS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D8676-B0B5-4442-A083-A189D126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O requisito foi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1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ensaiado, não presumido.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667D0-A93A-4AE8-8296-44538ADC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3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Redis reduz a pressão de leitura. Se o cache falha, PostgreSQL continua sendo a fonte da verdade.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913AC-8E89-48C2-8F7F-22CB30A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76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724D8-CFFC-40CC-9F3C-3AE4D13D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7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BA077-4A0E-45B5-8374-F87F9406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0% PERDA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639BE-FBAA-49CD-AF33-FCDE7207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limite obrigatório: 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08059-D3BA-46F0-9859-9D641802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762500" cy="762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7AEA8-BB59-438B-8394-7FC30A9B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672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6B3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 i="0">
                <a:solidFill>
                  <a:srgbClr val="FF6B35"/>
                </a:solidFill>
                <a:latin typeface="Cascadia Code"/>
                <a:ea typeface="Cascadia Code"/>
                <a:cs typeface="Cascadia Code"/>
              </a:rPr>
              <a:t>EVIDÊNCIA LOCAL DE ACEITAÇÃO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FF6B35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 i="0">
                <a:solidFill>
                  <a:srgbClr val="FF6B35"/>
                </a:solidFill>
                <a:latin typeface="Cascadia Code"/>
                <a:ea typeface="Cascadia Code"/>
                <a:cs typeface="Cascadia Code"/>
              </a:rPr>
              <a:t>≠ CERTIFICAÇÃO DE PRODUÇÃO</a:t>
            </a:r>
          </a:p>
        </p:txBody>
      </p:sp>
    </p:spTree>
    <p:extLst>
      <p:ext uri="{BB962C8B-B14F-4D97-AF65-F5344CB8AC3E}">
        <p14:creationId xmlns:p14="http://schemas.microsoft.com/office/powerpoint/2010/main" val="616147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3C296C-D715-4338-AAAB-7246B99B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0E106-091E-4D6A-A2E6-25CF4C5C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17CCA-C84C-4065-9346-BA4F95E8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50377-518F-4664-A2C2-9B6E1B0C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44429-DC09-4DFC-B9B6-64B4B8CC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DCA0B-817F-4E37-9A16-7E689484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10  //  ESCALA HORIZONTAL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6C85F-7CF3-4947-B47F-32002E42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91AA9-0EC2-4F1F-A524-9C7E6664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5F9B4-A0B7-42D0-A8D4-5391D521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B6E02-D3F2-4E55-9398-BE41A1AE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C4 DEPLOYMENT // BASEADO NO PROJETO DESENVOLVIDO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15EEC-AEC2-4CF7-B273-952C3FF7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1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Como o FluxoCaixa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1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escalaria.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98073-B54E-41B6-A48D-0021CDA9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40005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A101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65365-61B2-49FA-9B97-84C40B66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FF6B35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FF6B35"/>
                </a:solidFill>
                <a:latin typeface="Cascadia Code"/>
                <a:ea typeface="Cascadia Code"/>
                <a:cs typeface="Cascadia Code"/>
              </a:rPr>
              <a:t>SOMENTE CONCEITUAL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8A88E-9B43-46DA-B1D3-25FFC9EB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D6C6C0"/>
                </a:solidFill>
                <a:latin typeface="Bahnschrift"/>
                <a:ea typeface="Bahnschrift"/>
                <a:cs typeface="Bahnschrift"/>
              </a:defRPr>
            </a:pPr>
            <a:r>
              <a:rPr sz="825" b="0" i="0">
                <a:solidFill>
                  <a:srgbClr val="D6C6C0"/>
                </a:solidFill>
                <a:latin typeface="Bahnschrift"/>
                <a:ea typeface="Bahnschrift"/>
                <a:cs typeface="Bahnschrift"/>
              </a:rPr>
              <a:t>Não executado no Docker Compose local.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E9D0B-9388-45A9-8EDA-A22C6545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282A7-0DA8-46F8-A6E3-A4756D0C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Base real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E83A0-5B9E-43B3-9370-D427FE70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433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.NET 8, JWT, health, Outbox/Inbox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26FEC-2773-4AA3-8A47-19F7B24B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5DD2F-0B6B-4797-ACD1-F4BA3CEB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Entrada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A1289-4ABC-46FC-868D-C50A7E4F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load balancer → réplicas 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8B2094-EE78-4DD4-A1B8-EA02B771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4D83C-DE12-46AA-8381-7A4D4D3D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Escrita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86DDB-FCBC-4D0C-B7AA-30E7DA31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910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2+ APIs + Outbox claim/lease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23B95-A2A8-49BE-A623-A8FA1FAD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5B1F4-3565-4141-A84B-F2393F4A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Leitura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08EC1-D5A6-4924-925E-A95C9391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149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050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2+ APIs + consumidor ativo/standby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63FEA-7A39-4FBF-98CA-9BF620E0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85925"/>
            <a:ext cx="6867525" cy="3343275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1F6F7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ba1ceab694f17"/>
          <a:stretch xmlns:a="http://schemas.openxmlformats.org/drawingml/2006/main"/>
        </p:blipFill>
        <p:spPr>
          <a:xfrm xmlns:a="http://schemas.openxmlformats.org/drawingml/2006/main">
            <a:off x="4524375" y="1764357"/>
            <a:ext cx="6715125" cy="31864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4256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68174A-430B-4B1D-A78E-6BB92754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3AE28-60F7-4C9A-BB7D-E2C86427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A165E-29E0-40C7-96B5-7A6C230D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05090D"/>
                </a:solidFill>
                <a:latin typeface="Bahnschrift"/>
                <a:ea typeface="Bahnschrift"/>
                <a:cs typeface="Bahnschrift"/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F3F63-13EB-4FD3-897C-FB52CCB7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24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FLUXOCAIXA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19805-AB71-4ABB-914A-1664B93E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ARCHITECTURE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ED39E-B076-4F21-9509-47302A8C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75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11  //  CONCLUSÃO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A2CA2-EDDE-4E94-85FD-D88FC6A1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2A476-1232-47DA-811F-4248FD5D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CD3A2-6980-4D1D-847A-25FD93E5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96050"/>
            <a:ext cx="411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defRPr>
            </a:pPr>
            <a:r>
              <a:rPr sz="600" b="0" i="0">
                <a:solidFill>
                  <a:srgbClr val="8CA1AA"/>
                </a:solidFill>
                <a:latin typeface="Cascadia Code"/>
                <a:ea typeface="Cascadia Code"/>
                <a:cs typeface="Cascadia Code"/>
              </a:rPr>
              <a:t>APRESENTAÇÃO INTERATIVA  •  http://127.0.0.1:4177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50686-07C7-4F06-AF8F-33A24068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defRPr>
            </a:pPr>
            <a:r>
              <a:rPr sz="825" b="1" i="0">
                <a:solidFill>
                  <a:srgbClr val="B8FF2C"/>
                </a:solidFill>
                <a:latin typeface="Cascadia Code"/>
                <a:ea typeface="Cascadia Code"/>
                <a:cs typeface="Cascadia Code"/>
              </a:rPr>
              <a:t>A ARQUITETURA RESPONDE AO RISCO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AE489-6C30-4A82-8150-4EE89A56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6858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3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3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Disponível para escrever.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3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3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Confiável para consolidar.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3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defRPr>
            </a:pPr>
            <a:r>
              <a:rPr sz="3375" b="1" i="0">
                <a:solidFill>
                  <a:srgbClr val="E8F4F7"/>
                </a:solidFill>
                <a:latin typeface="Bahnschrift"/>
                <a:ea typeface="Bahnschrift"/>
                <a:cs typeface="Bahnschrift"/>
              </a:rPr>
              <a:t>Mensurável para evoluir.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18486-7A17-490E-AF0E-DD6237E1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1381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A271E-64B9-4EF5-B9A6-EBDA6254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7D4B9-44F2-42F3-A569-BA2A9927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2575"/>
            <a:ext cx="98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21D7FF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21D7FF"/>
                </a:solidFill>
                <a:latin typeface="Bahnschrift"/>
                <a:ea typeface="Bahnschrift"/>
                <a:cs typeface="Bahnschrift"/>
              </a:rPr>
              <a:t>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CD913-42E1-4512-910E-936BF1B7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TESTES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F9CAA-0E8C-4585-AB5B-E7D4A890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381125"/>
            <a:ext cx="1381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D78FF-D123-4990-BB3B-FB8CBFBB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381125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EBF10-521A-4638-BE32-87F4EB08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552575"/>
            <a:ext cx="98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806AC-DCB9-4431-ACA7-AF83FD72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209800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PERDA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3193E-5905-49B7-B3A4-DF11F332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5125"/>
            <a:ext cx="1381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7F29D-1E08-4F52-8FE9-5654E675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5125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77FE50-ADBF-43B4-BEB8-C5CC54E2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76575"/>
            <a:ext cx="98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FF6B35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FF6B35"/>
                </a:solidFill>
                <a:latin typeface="Bahnschrift"/>
                <a:ea typeface="Bahnschrift"/>
                <a:cs typeface="Bahnschrift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B0EFA-5A60-4192-B28E-5E054C7A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DIAGRAMAS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829D5-E82E-4B71-A2A3-451DECD5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13811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51D"/>
          </a:solidFill>
          <a:ln xmlns:a="http://schemas.openxmlformats.org/drawingml/2006/main" w="9525">
            <a:solidFill>
              <a:srgbClr val="2441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C1783-79E5-4E7B-840A-B4B62B20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47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6A65F-DDB0-4785-B64E-F6024FC0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076575"/>
            <a:ext cx="9810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 i="0">
                <a:solidFill>
                  <a:srgbClr val="B8FF2C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03243-957F-41D8-A101-3F32C498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733800"/>
            <a:ext cx="981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defRPr>
            </a:pPr>
            <a:r>
              <a:rPr sz="750" b="1" i="0">
                <a:solidFill>
                  <a:srgbClr val="E8F4F7"/>
                </a:solidFill>
                <a:latin typeface="Cascadia Code"/>
                <a:ea typeface="Cascadia Code"/>
                <a:cs typeface="Cascadia Code"/>
              </a:rPr>
              <a:t>VULNERÁVEIS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9FBC4-D542-43DF-85F3-4CE5A3A3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642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defRPr>
            </a:pPr>
            <a:r>
              <a:rPr sz="1575" b="0" i="0">
                <a:solidFill>
                  <a:srgbClr val="8CA1AA"/>
                </a:solidFill>
                <a:latin typeface="Bahnschrift"/>
                <a:ea typeface="Bahnschrift"/>
                <a:cs typeface="Bahnschrift"/>
              </a:rPr>
              <a:t>A hipótese principal possui código, teste, diagrama, métrica e limite consciente.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0EE9A-946E-4637-9C5F-D6A09373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429375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B8FF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C2E2D2-666A-4218-BE49-67F63BD7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604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defRPr>
            </a:pPr>
            <a:r>
              <a:rPr sz="1050" b="1" i="0">
                <a:solidFill>
                  <a:srgbClr val="05090D"/>
                </a:solidFill>
                <a:latin typeface="Cascadia Code"/>
                <a:ea typeface="Cascadia Code"/>
                <a:cs typeface="Cascadia Code"/>
              </a:rPr>
              <a:t>DEMO LOCAL  //  http://127.0.0.1:4177</a:t>
            </a:r>
          </a:p>
        </p:txBody>
      </p:sp>
    </p:spTree>
    <p:extLst>
      <p:ext uri="{BB962C8B-B14F-4D97-AF65-F5344CB8AC3E}">
        <p14:creationId xmlns:p14="http://schemas.microsoft.com/office/powerpoint/2010/main" val="2072637368"/>
      </p:ext>
    </p:extLst>
  </p:cSld>
</p:sld>
</file>

<file path=ppt/theme/theme1.xml><?xml version="1.0" encoding="utf-8"?>
<a:theme xmlns:a="http://schemas.openxmlformats.org/drawingml/2006/main" name="ChatGPT">
  <a:themeElements>
    <a:clrScheme name="FluxoCaixa Cyberpunk">
      <a:dk1>
        <a:srgbClr val="000000"/>
      </a:dk1>
      <a:lt1>
        <a:srgbClr val="FFFFFF"/>
      </a:lt1>
      <a:dk2>
        <a:srgbClr val="071017"/>
      </a:dk2>
      <a:lt2>
        <a:srgbClr val="F1F6F7"/>
      </a:lt2>
      <a:accent1>
        <a:srgbClr val="B8FF2C"/>
      </a:accent1>
      <a:accent2>
        <a:srgbClr val="21D7FF"/>
      </a:accent2>
      <a:accent3>
        <a:srgbClr val="FF6B35"/>
      </a:accent3>
      <a:accent4>
        <a:srgbClr val="FF3E62"/>
      </a:accent4>
      <a:accent5>
        <a:srgbClr val="4EA5FF"/>
      </a:accent5>
      <a:accent6>
        <a:srgbClr val="7EE787"/>
      </a:accent6>
      <a:hlink>
        <a:srgbClr val="21D7FF"/>
      </a:hlink>
      <a:folHlink>
        <a:srgbClr val="B8FF2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luxoCaixa Cyberpun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2026-07-19T08:47:58.8810000Z</dcterms:created>
  <dcterms:modified xsi:type="dcterms:W3CDTF">2026-07-19T08:47:58.8810000Z</dcterms:modified>
</coreProperties>
</file>